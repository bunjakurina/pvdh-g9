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64" r:id="rId7"/>
    <p:sldId id="268" r:id="rId8"/>
    <p:sldId id="286" r:id="rId9"/>
    <p:sldId id="292" r:id="rId10"/>
    <p:sldId id="279" r:id="rId11"/>
    <p:sldId id="260" r:id="rId12"/>
    <p:sldId id="293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204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80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86757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vizualizimi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Performancës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Efikasitetit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Automjeteve</a:t>
            </a:r>
            <a:r>
              <a:rPr lang="en-US" dirty="0"/>
              <a:t> </a:t>
            </a:r>
            <a:r>
              <a:rPr lang="en-US" dirty="0" err="1"/>
              <a:t>Elektrike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ABC99-4050-429F-90F0-854EF3DCE77B}"/>
              </a:ext>
            </a:extLst>
          </p:cNvPr>
          <p:cNvSpPr txBox="1"/>
          <p:nvPr/>
        </p:nvSpPr>
        <p:spPr>
          <a:xfrm>
            <a:off x="8587409" y="5287616"/>
            <a:ext cx="3114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chemeClr val="bg1"/>
                </a:solidFill>
              </a:rPr>
              <a:t>Studentët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Rina </a:t>
            </a:r>
            <a:r>
              <a:rPr lang="en-US" b="1" dirty="0" err="1">
                <a:solidFill>
                  <a:schemeClr val="bg1"/>
                </a:solidFill>
              </a:rPr>
              <a:t>Bunjaku</a:t>
            </a:r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en-US" b="1" dirty="0" err="1">
                <a:solidFill>
                  <a:schemeClr val="bg1"/>
                </a:solidFill>
              </a:rPr>
              <a:t>Uranik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Hodaj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220" y="519481"/>
            <a:ext cx="6343650" cy="739037"/>
          </a:xfrm>
        </p:spPr>
        <p:txBody>
          <a:bodyPr>
            <a:normAutofit/>
          </a:bodyPr>
          <a:lstStyle/>
          <a:p>
            <a:r>
              <a:rPr lang="en-US" dirty="0" err="1"/>
              <a:t>Hyrje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3221" y="1590261"/>
            <a:ext cx="6574380" cy="437873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Ky </a:t>
            </a:r>
            <a:r>
              <a:rPr lang="en-US" dirty="0" err="1">
                <a:solidFill>
                  <a:srgbClr val="002060"/>
                </a:solidFill>
              </a:rPr>
              <a:t>projekt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analizon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karakteristikat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teknike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të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automjeteve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elektrike</a:t>
            </a:r>
            <a:r>
              <a:rPr lang="en-US" dirty="0">
                <a:solidFill>
                  <a:srgbClr val="002060"/>
                </a:solidFill>
              </a:rPr>
              <a:t> (EV), duke </a:t>
            </a:r>
            <a:r>
              <a:rPr lang="en-US" dirty="0" err="1">
                <a:solidFill>
                  <a:srgbClr val="002060"/>
                </a:solidFill>
              </a:rPr>
              <a:t>përfshirë</a:t>
            </a:r>
            <a:r>
              <a:rPr lang="en-US" dirty="0">
                <a:solidFill>
                  <a:srgbClr val="002060"/>
                </a:solidFill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</a:rPr>
              <a:t>- </a:t>
            </a:r>
            <a:r>
              <a:rPr lang="en-US" dirty="0" err="1">
                <a:solidFill>
                  <a:srgbClr val="002060"/>
                </a:solidFill>
              </a:rPr>
              <a:t>Kapacitetin</a:t>
            </a:r>
            <a:r>
              <a:rPr lang="en-US" dirty="0">
                <a:solidFill>
                  <a:srgbClr val="002060"/>
                </a:solidFill>
              </a:rPr>
              <a:t> e </a:t>
            </a:r>
            <a:r>
              <a:rPr lang="en-US" dirty="0" err="1">
                <a:solidFill>
                  <a:srgbClr val="002060"/>
                </a:solidFill>
              </a:rPr>
              <a:t>baterisë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- </a:t>
            </a:r>
            <a:r>
              <a:rPr lang="en-US" dirty="0" err="1">
                <a:solidFill>
                  <a:srgbClr val="002060"/>
                </a:solidFill>
              </a:rPr>
              <a:t>Autonominë</a:t>
            </a:r>
            <a:r>
              <a:rPr lang="en-US" dirty="0">
                <a:solidFill>
                  <a:srgbClr val="002060"/>
                </a:solidFill>
              </a:rPr>
              <a:t> (range)</a:t>
            </a:r>
          </a:p>
          <a:p>
            <a:pPr marL="342900" indent="-342900">
              <a:buFontTx/>
              <a:buChar char="-"/>
            </a:pPr>
            <a:r>
              <a:rPr lang="en-US" dirty="0" err="1">
                <a:solidFill>
                  <a:srgbClr val="002060"/>
                </a:solidFill>
              </a:rPr>
              <a:t>Performancën</a:t>
            </a:r>
            <a:r>
              <a:rPr lang="en-US" dirty="0">
                <a:solidFill>
                  <a:srgbClr val="002060"/>
                </a:solidFill>
              </a:rPr>
              <a:t> e </a:t>
            </a:r>
            <a:r>
              <a:rPr lang="en-US" dirty="0" err="1">
                <a:solidFill>
                  <a:srgbClr val="002060"/>
                </a:solidFill>
              </a:rPr>
              <a:t>përshpejtimit</a:t>
            </a:r>
            <a:endParaRPr lang="en-US" dirty="0">
              <a:solidFill>
                <a:srgbClr val="00206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 err="1">
                <a:solidFill>
                  <a:srgbClr val="002060"/>
                </a:solidFill>
              </a:rPr>
              <a:t>Tipet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dhe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markat</a:t>
            </a:r>
            <a:r>
              <a:rPr lang="en-US" dirty="0">
                <a:solidFill>
                  <a:srgbClr val="002060"/>
                </a:solidFill>
              </a:rPr>
              <a:t> e </a:t>
            </a:r>
            <a:r>
              <a:rPr lang="en-US" dirty="0" err="1">
                <a:solidFill>
                  <a:srgbClr val="002060"/>
                </a:solidFill>
              </a:rPr>
              <a:t>automjeteve</a:t>
            </a:r>
            <a:endParaRPr lang="en-US" dirty="0">
              <a:solidFill>
                <a:srgbClr val="002060"/>
              </a:solidFill>
            </a:endParaRPr>
          </a:p>
          <a:p>
            <a:pPr marL="342900" indent="-342900">
              <a:buFontTx/>
              <a:buChar char="-"/>
            </a:pPr>
            <a:endParaRPr lang="en-US" dirty="0">
              <a:solidFill>
                <a:srgbClr val="002060"/>
              </a:solidFill>
            </a:endParaRPr>
          </a:p>
          <a:p>
            <a:r>
              <a:rPr lang="en-US" dirty="0" err="1">
                <a:solidFill>
                  <a:srgbClr val="002060"/>
                </a:solidFill>
              </a:rPr>
              <a:t>Qëllimi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është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identifikimi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marrëdhënieve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mes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performancës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dhe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efikasitetit</a:t>
            </a:r>
            <a:r>
              <a:rPr lang="en-US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03237"/>
            <a:ext cx="7268816" cy="786914"/>
          </a:xfrm>
        </p:spPr>
        <p:txBody>
          <a:bodyPr/>
          <a:lstStyle/>
          <a:p>
            <a:r>
              <a:rPr lang="en-US" dirty="0" err="1"/>
              <a:t>Përshkrimi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Datasetit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1510748"/>
            <a:ext cx="6597650" cy="48440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vizualizimin</a:t>
            </a:r>
            <a:r>
              <a:rPr lang="en-US" sz="2000" dirty="0"/>
              <a:t> e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dhënave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</a:t>
            </a:r>
            <a:r>
              <a:rPr lang="en-US" sz="2000" dirty="0" err="1"/>
              <a:t>përdorur</a:t>
            </a:r>
            <a:r>
              <a:rPr lang="en-US" sz="2000" dirty="0"/>
              <a:t> </a:t>
            </a:r>
            <a:r>
              <a:rPr lang="en-US" sz="2000" dirty="0" err="1"/>
              <a:t>dataseti</a:t>
            </a:r>
            <a:r>
              <a:rPr lang="en-US" sz="2000" dirty="0"/>
              <a:t> electric_vehicles_cleaned.csv. </a:t>
            </a:r>
          </a:p>
          <a:p>
            <a:r>
              <a:rPr lang="en-US" sz="2000" dirty="0" err="1"/>
              <a:t>Dataseti</a:t>
            </a:r>
            <a:r>
              <a:rPr lang="en-US" sz="2000" dirty="0"/>
              <a:t> </a:t>
            </a:r>
            <a:r>
              <a:rPr lang="en-US" sz="2000" dirty="0" err="1"/>
              <a:t>përmban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dhëna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strukturuara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veturat</a:t>
            </a:r>
            <a:r>
              <a:rPr lang="en-US" sz="2000" dirty="0"/>
              <a:t> </a:t>
            </a:r>
            <a:r>
              <a:rPr lang="en-US" sz="2000" dirty="0" err="1"/>
              <a:t>elektrike</a:t>
            </a:r>
            <a:r>
              <a:rPr lang="en-US" sz="2000" dirty="0"/>
              <a:t> sic </a:t>
            </a:r>
            <a:r>
              <a:rPr lang="en-US" sz="2000" dirty="0" err="1"/>
              <a:t>janë</a:t>
            </a:r>
            <a:r>
              <a:rPr lang="en-US" sz="2000" dirty="0"/>
              <a:t>: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Marka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model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Kapaciteti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baterisë</a:t>
            </a:r>
            <a:r>
              <a:rPr lang="en-US" sz="2000" dirty="0"/>
              <a:t> (kWh)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Autonomia</a:t>
            </a:r>
            <a:r>
              <a:rPr lang="en-US" sz="2000" dirty="0"/>
              <a:t> (km) -range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Përshpejtimi</a:t>
            </a:r>
            <a:r>
              <a:rPr lang="en-US" sz="2000" dirty="0"/>
              <a:t> 0–100 km/h (s)</a:t>
            </a:r>
          </a:p>
          <a:p>
            <a:r>
              <a:rPr lang="en-US" sz="2000" dirty="0"/>
              <a:t>- Tipi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karrocerisë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dhënat</a:t>
            </a:r>
            <a:r>
              <a:rPr lang="en-US" sz="2000" dirty="0"/>
              <a:t> </a:t>
            </a:r>
            <a:r>
              <a:rPr lang="en-US" sz="2000" dirty="0" err="1"/>
              <a:t>janë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pastruara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gatshme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analizë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52773"/>
            <a:ext cx="9389288" cy="1362456"/>
          </a:xfrm>
        </p:spPr>
        <p:txBody>
          <a:bodyPr/>
          <a:lstStyle/>
          <a:p>
            <a:r>
              <a:rPr lang="en-US" dirty="0" err="1"/>
              <a:t>Softueri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Përdorur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1378226"/>
            <a:ext cx="9538666" cy="4717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>
                <a:solidFill>
                  <a:srgbClr val="002060"/>
                </a:solidFill>
              </a:rPr>
              <a:t>Të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gjitha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vizualizimet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janë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realizuar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në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Metabase</a:t>
            </a:r>
            <a:r>
              <a:rPr lang="en-US" sz="2800" dirty="0">
                <a:solidFill>
                  <a:srgbClr val="002060"/>
                </a:solidFill>
              </a:rPr>
              <a:t> duke </a:t>
            </a:r>
          </a:p>
          <a:p>
            <a:r>
              <a:rPr lang="en-US" sz="2800" dirty="0" err="1">
                <a:solidFill>
                  <a:srgbClr val="002060"/>
                </a:solidFill>
              </a:rPr>
              <a:t>përfshirë</a:t>
            </a:r>
            <a:r>
              <a:rPr lang="en-US" sz="2800" dirty="0">
                <a:solidFill>
                  <a:srgbClr val="002060"/>
                </a:solidFill>
              </a:rPr>
              <a:t>:</a:t>
            </a:r>
          </a:p>
          <a:p>
            <a:endParaRPr lang="en-US" sz="2800" dirty="0">
              <a:solidFill>
                <a:srgbClr val="002060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2060"/>
                </a:solidFill>
              </a:rPr>
              <a:t>Dashboard </a:t>
            </a:r>
            <a:r>
              <a:rPr lang="en-US" sz="2800" dirty="0" err="1">
                <a:solidFill>
                  <a:srgbClr val="002060"/>
                </a:solidFill>
              </a:rPr>
              <a:t>interaktiv</a:t>
            </a:r>
            <a:endParaRPr lang="en-US" sz="2800" dirty="0">
              <a:solidFill>
                <a:srgbClr val="002060"/>
              </a:solidFill>
            </a:endParaRPr>
          </a:p>
          <a:p>
            <a:endParaRPr lang="en-US" sz="2800" dirty="0">
              <a:solidFill>
                <a:srgbClr val="002060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2060"/>
                </a:solidFill>
              </a:rPr>
              <a:t>Filtra </a:t>
            </a:r>
            <a:r>
              <a:rPr lang="en-US" sz="2800" dirty="0" err="1">
                <a:solidFill>
                  <a:srgbClr val="002060"/>
                </a:solidFill>
              </a:rPr>
              <a:t>sipas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markës</a:t>
            </a:r>
            <a:r>
              <a:rPr lang="en-US" sz="2800" dirty="0">
                <a:solidFill>
                  <a:srgbClr val="002060"/>
                </a:solidFill>
              </a:rPr>
              <a:t>, </a:t>
            </a:r>
            <a:r>
              <a:rPr lang="en-US" sz="2800" dirty="0" err="1">
                <a:solidFill>
                  <a:srgbClr val="002060"/>
                </a:solidFill>
              </a:rPr>
              <a:t>modelit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dhe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tipit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të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automjetit</a:t>
            </a:r>
            <a:endParaRPr lang="en-US" sz="2800" dirty="0">
              <a:solidFill>
                <a:srgbClr val="002060"/>
              </a:solidFill>
            </a:endParaRPr>
          </a:p>
          <a:p>
            <a:endParaRPr lang="en-US" sz="2800" dirty="0">
              <a:solidFill>
                <a:srgbClr val="002060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>
                <a:solidFill>
                  <a:srgbClr val="002060"/>
                </a:solidFill>
              </a:rPr>
              <a:t>Vizualizime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statike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dhe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dinamike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1253" y="123483"/>
            <a:ext cx="8733182" cy="1343506"/>
          </a:xfrm>
        </p:spPr>
        <p:txBody>
          <a:bodyPr>
            <a:normAutofit/>
          </a:bodyPr>
          <a:lstStyle/>
          <a:p>
            <a:r>
              <a:rPr lang="nn-NO" sz="4000" dirty="0"/>
              <a:t>Vizualizimi i të Dhënave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61253" y="954157"/>
            <a:ext cx="8733182" cy="909811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Ky </a:t>
            </a:r>
            <a:r>
              <a:rPr lang="en-US" sz="2000" dirty="0" err="1">
                <a:solidFill>
                  <a:srgbClr val="002060"/>
                </a:solidFill>
              </a:rPr>
              <a:t>vizualizim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tregon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strukturën</a:t>
            </a:r>
            <a:r>
              <a:rPr lang="en-US" sz="2000" dirty="0">
                <a:solidFill>
                  <a:srgbClr val="002060"/>
                </a:solidFill>
              </a:rPr>
              <a:t> e </a:t>
            </a:r>
            <a:r>
              <a:rPr lang="en-US" sz="2000" dirty="0" err="1">
                <a:solidFill>
                  <a:srgbClr val="002060"/>
                </a:solidFill>
              </a:rPr>
              <a:t>tregut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të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veturave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elektrike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r>
              <a:rPr lang="en-US" sz="2000" dirty="0" err="1">
                <a:solidFill>
                  <a:srgbClr val="002060"/>
                </a:solidFill>
              </a:rPr>
              <a:t>Tipet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më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të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përhapura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të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automjeteve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elektrike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sipas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llojit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t</a:t>
            </a:r>
            <a:r>
              <a:rPr lang="en-US" dirty="0" err="1"/>
              <a:t>ë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karrocerisë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së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makinës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janë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paraqitur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si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shtylla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74363-15C6-4882-8B8E-C110388C4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9" y="2260948"/>
            <a:ext cx="12019722" cy="447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nn-NO" dirty="0"/>
              <a:t>Vizualizimi i të Dhënave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6015" y="1696972"/>
            <a:ext cx="10663375" cy="3945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200" dirty="0">
                <a:solidFill>
                  <a:srgbClr val="002060"/>
                </a:solidFill>
              </a:rPr>
              <a:t>Ky </a:t>
            </a:r>
            <a:r>
              <a:rPr lang="en-US" sz="6200" dirty="0" err="1">
                <a:solidFill>
                  <a:srgbClr val="002060"/>
                </a:solidFill>
              </a:rPr>
              <a:t>vizualizim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tregon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strukturën</a:t>
            </a:r>
            <a:r>
              <a:rPr lang="en-US" sz="6200" dirty="0">
                <a:solidFill>
                  <a:srgbClr val="002060"/>
                </a:solidFill>
              </a:rPr>
              <a:t> e </a:t>
            </a:r>
            <a:r>
              <a:rPr lang="en-US" sz="6200" dirty="0" err="1">
                <a:solidFill>
                  <a:srgbClr val="002060"/>
                </a:solidFill>
              </a:rPr>
              <a:t>tregut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të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veturave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elektrike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sipas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markës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së</a:t>
            </a:r>
            <a:r>
              <a:rPr lang="en-US" sz="6200" dirty="0">
                <a:solidFill>
                  <a:srgbClr val="002060"/>
                </a:solidFill>
              </a:rPr>
              <a:t> </a:t>
            </a:r>
            <a:r>
              <a:rPr lang="en-US" sz="6200" dirty="0" err="1">
                <a:solidFill>
                  <a:srgbClr val="002060"/>
                </a:solidFill>
              </a:rPr>
              <a:t>veturës</a:t>
            </a:r>
            <a:r>
              <a:rPr lang="en-US" sz="6200" dirty="0">
                <a:solidFill>
                  <a:srgbClr val="002060"/>
                </a:solidFill>
              </a:rPr>
              <a:t>. 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A3E92F-8F79-4A13-B3DE-6195D5CF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16" y="2355850"/>
            <a:ext cx="105441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556" y="376506"/>
            <a:ext cx="10414139" cy="727445"/>
          </a:xfrm>
        </p:spPr>
        <p:txBody>
          <a:bodyPr>
            <a:normAutofit/>
          </a:bodyPr>
          <a:lstStyle/>
          <a:p>
            <a:r>
              <a:rPr lang="en-US" dirty="0" err="1"/>
              <a:t>Vizualizimi</a:t>
            </a:r>
            <a:r>
              <a:rPr lang="en-US" dirty="0"/>
              <a:t> </a:t>
            </a:r>
            <a:r>
              <a:rPr lang="en-US" dirty="0" err="1"/>
              <a:t>Shumë</a:t>
            </a:r>
            <a:r>
              <a:rPr lang="en-US" dirty="0"/>
              <a:t>-Dimensional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48870" y="1285461"/>
            <a:ext cx="3114259" cy="4832311"/>
          </a:xfrm>
        </p:spPr>
        <p:txBody>
          <a:bodyPr>
            <a:normAutofit/>
          </a:bodyPr>
          <a:lstStyle/>
          <a:p>
            <a:r>
              <a:rPr lang="en-US" dirty="0" err="1"/>
              <a:t>Grafikët</a:t>
            </a:r>
            <a:r>
              <a:rPr lang="en-US" dirty="0"/>
              <a:t> Scatter </a:t>
            </a:r>
            <a:r>
              <a:rPr lang="en-US" dirty="0" err="1"/>
              <a:t>kombinojnë</a:t>
            </a:r>
            <a:r>
              <a:rPr lang="en-US" dirty="0"/>
              <a:t> </a:t>
            </a:r>
            <a:r>
              <a:rPr lang="en-US" dirty="0" err="1"/>
              <a:t>disa</a:t>
            </a:r>
            <a:r>
              <a:rPr lang="en-US" dirty="0"/>
              <a:t> </a:t>
            </a:r>
            <a:r>
              <a:rPr lang="en-US" dirty="0" err="1"/>
              <a:t>dimensione</a:t>
            </a:r>
            <a:r>
              <a:rPr lang="en-US" dirty="0"/>
              <a:t> </a:t>
            </a:r>
            <a:r>
              <a:rPr lang="en-US" dirty="0" err="1"/>
              <a:t>njëkohësisht</a:t>
            </a:r>
            <a:r>
              <a:rPr lang="en-US" dirty="0"/>
              <a:t>:</a:t>
            </a:r>
          </a:p>
          <a:p>
            <a:r>
              <a:rPr lang="en-US" dirty="0"/>
              <a:t>- </a:t>
            </a:r>
            <a:r>
              <a:rPr lang="en-US" dirty="0" err="1"/>
              <a:t>Kapaciteti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baterisë</a:t>
            </a:r>
            <a:r>
              <a:rPr lang="en-US" dirty="0"/>
              <a:t> </a:t>
            </a:r>
            <a:r>
              <a:rPr lang="en-US" dirty="0" err="1"/>
              <a:t>kundrejt</a:t>
            </a:r>
            <a:r>
              <a:rPr lang="en-US" dirty="0"/>
              <a:t> </a:t>
            </a:r>
            <a:r>
              <a:rPr lang="en-US" dirty="0" err="1"/>
              <a:t>autonomisë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Përshpejtimi</a:t>
            </a:r>
            <a:r>
              <a:rPr lang="en-US" dirty="0"/>
              <a:t> </a:t>
            </a:r>
            <a:r>
              <a:rPr lang="en-US" dirty="0" err="1"/>
              <a:t>kundrejt</a:t>
            </a:r>
            <a:r>
              <a:rPr lang="en-US" dirty="0"/>
              <a:t> </a:t>
            </a:r>
            <a:r>
              <a:rPr lang="en-US" dirty="0" err="1"/>
              <a:t>autonomisë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Ngjyrosja</a:t>
            </a:r>
            <a:r>
              <a:rPr lang="en-US" dirty="0"/>
              <a:t>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tipit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automjetit</a:t>
            </a:r>
            <a:endParaRPr lang="en-US" dirty="0"/>
          </a:p>
          <a:p>
            <a:r>
              <a:rPr lang="en-US" dirty="0"/>
              <a:t>Ky </a:t>
            </a:r>
            <a:r>
              <a:rPr lang="en-US" dirty="0" err="1"/>
              <a:t>vizualizim</a:t>
            </a:r>
            <a:r>
              <a:rPr lang="en-US" dirty="0"/>
              <a:t> </a:t>
            </a:r>
            <a:r>
              <a:rPr lang="en-US" dirty="0" err="1"/>
              <a:t>zbulon</a:t>
            </a:r>
            <a:r>
              <a:rPr lang="en-US" dirty="0"/>
              <a:t>  </a:t>
            </a:r>
            <a:r>
              <a:rPr lang="en-US" dirty="0" err="1"/>
              <a:t>nderlidhjen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performancës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efikasitetit</a:t>
            </a:r>
            <a:r>
              <a:rPr lang="en-US" dirty="0"/>
              <a:t>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1C5DA-0DAB-427B-9CAA-A257ADBC3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56" y="1215550"/>
            <a:ext cx="68008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129" y="352773"/>
            <a:ext cx="10665845" cy="1325563"/>
          </a:xfrm>
        </p:spPr>
        <p:txBody>
          <a:bodyPr/>
          <a:lstStyle/>
          <a:p>
            <a:r>
              <a:rPr lang="nn-NO" dirty="0"/>
              <a:t>Vizualizimi i të Dhënave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F9F2D-DD80-4645-B47F-A9B3760CD25B}"/>
              </a:ext>
            </a:extLst>
          </p:cNvPr>
          <p:cNvSpPr txBox="1"/>
          <p:nvPr/>
        </p:nvSpPr>
        <p:spPr>
          <a:xfrm>
            <a:off x="344754" y="1203179"/>
            <a:ext cx="11959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Ky </a:t>
            </a:r>
            <a:r>
              <a:rPr lang="en-US" dirty="0" err="1">
                <a:solidFill>
                  <a:srgbClr val="002060"/>
                </a:solidFill>
              </a:rPr>
              <a:t>grafik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paraqet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marrëdhënien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mes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kapacitetit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të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baterisë</a:t>
            </a:r>
            <a:r>
              <a:rPr lang="en-US" dirty="0">
                <a:solidFill>
                  <a:srgbClr val="002060"/>
                </a:solidFill>
              </a:rPr>
              <a:t>(kWh) </a:t>
            </a:r>
            <a:r>
              <a:rPr lang="en-US" dirty="0" err="1">
                <a:solidFill>
                  <a:srgbClr val="002060"/>
                </a:solidFill>
              </a:rPr>
              <a:t>dhe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autonomisë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së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automjeteve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elektrike</a:t>
            </a:r>
            <a:r>
              <a:rPr lang="en-US" dirty="0">
                <a:solidFill>
                  <a:srgbClr val="002060"/>
                </a:solidFill>
              </a:rPr>
              <a:t>(km).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71EC9-AAD7-463C-8643-F76F3DDE2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540" y="1678336"/>
            <a:ext cx="6564573" cy="477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556" y="376506"/>
            <a:ext cx="10414139" cy="727445"/>
          </a:xfrm>
        </p:spPr>
        <p:txBody>
          <a:bodyPr>
            <a:normAutofit/>
          </a:bodyPr>
          <a:lstStyle/>
          <a:p>
            <a:r>
              <a:rPr lang="nn-NO" dirty="0"/>
              <a:t>Vizualizimi i të Dhënave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446556" y="6133151"/>
            <a:ext cx="10243929" cy="834887"/>
          </a:xfrm>
        </p:spPr>
        <p:txBody>
          <a:bodyPr>
            <a:normAutofit/>
          </a:bodyPr>
          <a:lstStyle/>
          <a:p>
            <a:r>
              <a:rPr lang="en-US" dirty="0"/>
              <a:t>Ky </a:t>
            </a:r>
            <a:r>
              <a:rPr lang="en-US" dirty="0" err="1"/>
              <a:t>vizualizim</a:t>
            </a:r>
            <a:r>
              <a:rPr lang="en-US" dirty="0"/>
              <a:t> </a:t>
            </a:r>
            <a:r>
              <a:rPr lang="en-US" dirty="0" err="1"/>
              <a:t>tregon</a:t>
            </a:r>
            <a:r>
              <a:rPr lang="en-US" dirty="0"/>
              <a:t> </a:t>
            </a:r>
            <a:r>
              <a:rPr lang="en-US" dirty="0" err="1"/>
              <a:t>nderlidhjen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performances </a:t>
            </a:r>
            <a:r>
              <a:rPr lang="en-US" dirty="0" err="1"/>
              <a:t>dhe</a:t>
            </a:r>
            <a:r>
              <a:rPr lang="en-US" dirty="0"/>
              <a:t> autonomies(range) per </a:t>
            </a:r>
            <a:r>
              <a:rPr lang="en-US" dirty="0" err="1"/>
              <a:t>llojet</a:t>
            </a:r>
            <a:r>
              <a:rPr lang="en-US" dirty="0"/>
              <a:t> e </a:t>
            </a:r>
            <a:r>
              <a:rPr lang="en-US" dirty="0" err="1"/>
              <a:t>makinave</a:t>
            </a:r>
            <a:r>
              <a:rPr lang="en-US" dirty="0"/>
              <a:t> </a:t>
            </a:r>
            <a:r>
              <a:rPr lang="en-US" dirty="0" err="1"/>
              <a:t>elektrike</a:t>
            </a:r>
            <a:r>
              <a:rPr lang="en-US" dirty="0"/>
              <a:t>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1C5DA-0DAB-427B-9CAA-A257ADBC3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870" y="1103951"/>
            <a:ext cx="849257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4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4192" y="371060"/>
            <a:ext cx="7678097" cy="831025"/>
          </a:xfrm>
        </p:spPr>
        <p:txBody>
          <a:bodyPr/>
          <a:lstStyle/>
          <a:p>
            <a:r>
              <a:rPr lang="en-US" dirty="0" err="1"/>
              <a:t>Gjetjet</a:t>
            </a:r>
            <a:r>
              <a:rPr lang="en-US" dirty="0"/>
              <a:t> </a:t>
            </a:r>
            <a:r>
              <a:rPr lang="en-US" dirty="0" err="1"/>
              <a:t>kryesore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4192" y="1378227"/>
            <a:ext cx="7210366" cy="3903238"/>
          </a:xfrm>
        </p:spPr>
        <p:txBody>
          <a:bodyPr bIns="0">
            <a:normAutofit/>
          </a:bodyPr>
          <a:lstStyle/>
          <a:p>
            <a:r>
              <a:rPr lang="en-US" dirty="0"/>
              <a:t>- SUV-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tipi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zakonshëm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veturave</a:t>
            </a:r>
            <a:r>
              <a:rPr lang="en-US" dirty="0"/>
              <a:t> </a:t>
            </a:r>
            <a:r>
              <a:rPr lang="en-US" dirty="0" err="1"/>
              <a:t>elektrike</a:t>
            </a:r>
            <a:r>
              <a:rPr lang="en-US" dirty="0"/>
              <a:t>, </a:t>
            </a:r>
            <a:r>
              <a:rPr lang="en-US" dirty="0" err="1"/>
              <a:t>ndersa</a:t>
            </a:r>
            <a:r>
              <a:rPr lang="en-US" dirty="0"/>
              <a:t> </a:t>
            </a:r>
            <a:r>
              <a:rPr lang="en-US" dirty="0" err="1"/>
              <a:t>marka</a:t>
            </a:r>
            <a:r>
              <a:rPr lang="en-US" dirty="0"/>
              <a:t> me e </a:t>
            </a:r>
            <a:r>
              <a:rPr lang="en-US" dirty="0" err="1"/>
              <a:t>shpeshte</a:t>
            </a:r>
            <a:r>
              <a:rPr lang="en-US" dirty="0"/>
              <a:t> </a:t>
            </a:r>
            <a:r>
              <a:rPr lang="en-US" dirty="0" err="1"/>
              <a:t>eshte</a:t>
            </a:r>
            <a:r>
              <a:rPr lang="en-US" dirty="0"/>
              <a:t> Mercedes-Benz</a:t>
            </a:r>
          </a:p>
          <a:p>
            <a:r>
              <a:rPr lang="en-US" dirty="0"/>
              <a:t>- </a:t>
            </a:r>
            <a:r>
              <a:rPr lang="en-US" dirty="0" err="1"/>
              <a:t>Rritja</a:t>
            </a:r>
            <a:r>
              <a:rPr lang="en-US" dirty="0"/>
              <a:t> e </a:t>
            </a:r>
            <a:r>
              <a:rPr lang="en-US" dirty="0" err="1"/>
              <a:t>kapacitetit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baterisë</a:t>
            </a:r>
            <a:r>
              <a:rPr lang="en-US" dirty="0"/>
              <a:t> </a:t>
            </a:r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rrit</a:t>
            </a:r>
            <a:r>
              <a:rPr lang="en-US" dirty="0"/>
              <a:t> </a:t>
            </a:r>
            <a:r>
              <a:rPr lang="en-US" dirty="0" err="1"/>
              <a:t>autonominë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Përshpejtimi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shpejtë</a:t>
            </a:r>
            <a:r>
              <a:rPr lang="en-US" dirty="0"/>
              <a:t> </a:t>
            </a:r>
            <a:r>
              <a:rPr lang="en-US" dirty="0" err="1"/>
              <a:t>shpesh</a:t>
            </a:r>
            <a:r>
              <a:rPr lang="en-US" dirty="0"/>
              <a:t> </a:t>
            </a:r>
            <a:r>
              <a:rPr lang="en-US" dirty="0" err="1"/>
              <a:t>shoqërohet</a:t>
            </a:r>
            <a:r>
              <a:rPr lang="en-US" dirty="0"/>
              <a:t> me </a:t>
            </a:r>
            <a:r>
              <a:rPr lang="en-US" dirty="0" err="1"/>
              <a:t>autonomi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ulët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Disa</a:t>
            </a:r>
            <a:r>
              <a:rPr lang="en-US" dirty="0"/>
              <a:t> </a:t>
            </a:r>
            <a:r>
              <a:rPr lang="en-US" dirty="0" err="1"/>
              <a:t>marka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efikasitet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lartë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kWh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Colorful abstract pitch deck</Template>
  <TotalTime>0</TotalTime>
  <Words>357</Words>
  <Application>Microsoft Office PowerPoint</Application>
  <PresentationFormat>Widescreen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Calibri</vt:lpstr>
      <vt:lpstr>Courier New</vt:lpstr>
      <vt:lpstr>Custom</vt:lpstr>
      <vt:lpstr>Analiza dhe vizualizimi i Performancës dhe Efikasitetit të Automjeteve Elektrike</vt:lpstr>
      <vt:lpstr>Hyrje</vt:lpstr>
      <vt:lpstr>Përshkrimi i Datasetit</vt:lpstr>
      <vt:lpstr>Softueri i Përdorur</vt:lpstr>
      <vt:lpstr>Vizualizimi i të Dhënave</vt:lpstr>
      <vt:lpstr>Vizualizimi i të Dhënave</vt:lpstr>
      <vt:lpstr>Vizualizimi Shumë-Dimensional</vt:lpstr>
      <vt:lpstr>Vizualizimi i të Dhënave</vt:lpstr>
      <vt:lpstr>Vizualizimi i të Dhënave</vt:lpstr>
      <vt:lpstr>Gjetjet kryesore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2025-12-21T15:22:55Z</dcterms:created>
  <dcterms:modified xsi:type="dcterms:W3CDTF">2025-12-21T20:49:11Z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